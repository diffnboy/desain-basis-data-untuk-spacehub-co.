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4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1831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FA5E9-3A3B-E215-0247-8E72F7018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B9F989-7DA2-2553-569C-B0630E1D20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306665-1F37-C789-8A51-784ABAB36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4DA18-A8DE-F7D6-3799-11A322C4C5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3225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543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TUGAS BESAR — MANAJEMEN DATA DAN INFORMASI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5430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SDM &amp; Operasional Multi-Cabang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(Cross-Branch HR)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Sistem Informasi SpaceHub Co.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3840480" cy="18288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3434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Dosen Pengampu: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Kartini Aprilia Pratiwi Nuzry, S.Kom., M.MT.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074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4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Asmira (22415010)  		 •   Fadlan Hakiki (22415011)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Alqiran Islami Ramadhan (22415002)   	 •   M. Apriyanto Arifin (22415025)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6126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Sistem dan Teknologi Informasi  •  Fakultas Teknik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Muhammadiyah Kendari  •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ISI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 </a:t>
            </a:r>
            <a:r>
              <a:rPr lang="en-US" sz="30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Pembahasan</a:t>
            </a: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dirty="0" err="1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84708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Aturan Bisnis &amp; Kamus Data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57860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786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59689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Perancangan Diagram Hubungan Entitas (ERD)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332841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284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346704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Skema Relasional &amp; Normalisasi (Sampai 3NF)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407822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782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09651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SQL DDL, Validasi Kualitas, &amp; Keamanan (DCL)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82803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28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846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Kueri Analisis &amp; Penyajian Informasi Strategis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" y="55778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577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559612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SpaceHub Co. — Kelompok 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Aturan Bisnis &amp; Kamus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Uraian Solusi Logis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4632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 operasional (Customer Service / Cleaning Service) terikat pada satu "Cabang Rumah" tetap, namun dapat diperbantukan ke cabang lain saat acara besar berlangsung.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Solusi: empat entitas utama — Cabang, Acara_Besar, Staf, dan tabel asosiatif Penugasan_Bantuan. "Cabang Rumah" disimpan permanen sebagai foreign key di tabel Staf, sementara riwayat perbantuan dicatat terpisah tanpa mengubah data profil asli staf.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63640" y="1691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Kamus Data (Data Dictionary)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011104"/>
              </p:ext>
            </p:extLst>
          </p:nvPr>
        </p:nvGraphicFramePr>
        <p:xfrm>
          <a:off x="6263640" y="2148840"/>
          <a:ext cx="5394960" cy="2039113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1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Kolom Kunci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Keterangan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6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id_cabang (PK)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nama_cabang UNIQUE, kota_lokasi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0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Acara_Besar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id_acara (PK)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Cabang.id_cabang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6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id_staf (PK)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posisi_staf CHECK; FK cabang_rumah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6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Penugasan_Bantuan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id_penugasan (PK)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staf &amp; acara; CHECK tanggal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263640" y="47548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3DA"/>
          </a:solidFill>
          <a:ln/>
        </p:spPr>
      </p:sp>
      <p:sp>
        <p:nvSpPr>
          <p:cNvPr id="10" name="Text 7"/>
          <p:cNvSpPr/>
          <p:nvPr/>
        </p:nvSpPr>
        <p:spPr>
          <a:xfrm>
            <a:off x="6492240" y="489204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D" sz="1200" dirty="0" err="1"/>
              <a:t>Bayangkan</a:t>
            </a:r>
            <a:r>
              <a:rPr lang="en-ID" sz="1200" dirty="0"/>
              <a:t> </a:t>
            </a:r>
            <a:r>
              <a:rPr lang="en-ID" sz="1200" dirty="0" err="1"/>
              <a:t>SpaceHub</a:t>
            </a:r>
            <a:r>
              <a:rPr lang="en-ID" sz="1200" dirty="0"/>
              <a:t> punya </a:t>
            </a:r>
            <a:r>
              <a:rPr lang="en-ID" sz="1200" dirty="0" err="1"/>
              <a:t>banyak</a:t>
            </a:r>
            <a:r>
              <a:rPr lang="en-ID" sz="1200" dirty="0"/>
              <a:t> </a:t>
            </a:r>
            <a:r>
              <a:rPr lang="en-ID" sz="1200" dirty="0" err="1"/>
              <a:t>cabang</a:t>
            </a:r>
            <a:r>
              <a:rPr lang="en-ID" sz="1200" dirty="0"/>
              <a:t> di </a:t>
            </a:r>
            <a:r>
              <a:rPr lang="en-ID" sz="1200" dirty="0" err="1"/>
              <a:t>berbagai</a:t>
            </a:r>
            <a:r>
              <a:rPr lang="en-ID" sz="1200" dirty="0"/>
              <a:t> </a:t>
            </a:r>
            <a:r>
              <a:rPr lang="en-ID" sz="1200" dirty="0" err="1"/>
              <a:t>kota</a:t>
            </a:r>
            <a:r>
              <a:rPr lang="en-ID" sz="1200" dirty="0"/>
              <a:t>. </a:t>
            </a:r>
            <a:r>
              <a:rPr lang="en-ID" sz="1200" dirty="0" err="1"/>
              <a:t>Kadang</a:t>
            </a:r>
            <a:r>
              <a:rPr lang="en-ID" sz="1200" dirty="0"/>
              <a:t>, </a:t>
            </a:r>
            <a:r>
              <a:rPr lang="en-ID" sz="1200" dirty="0" err="1"/>
              <a:t>cabang</a:t>
            </a:r>
            <a:r>
              <a:rPr lang="en-ID" sz="1200" dirty="0"/>
              <a:t> Jakarta </a:t>
            </a:r>
            <a:r>
              <a:rPr lang="en-ID" sz="1200" dirty="0" err="1"/>
              <a:t>butuh</a:t>
            </a:r>
            <a:r>
              <a:rPr lang="en-ID" sz="1200" dirty="0"/>
              <a:t> </a:t>
            </a:r>
            <a:r>
              <a:rPr lang="en-ID" sz="1200" dirty="0" err="1"/>
              <a:t>bantuan</a:t>
            </a:r>
            <a:r>
              <a:rPr lang="en-ID" sz="1200" dirty="0"/>
              <a:t> orang </a:t>
            </a:r>
            <a:r>
              <a:rPr lang="en-ID" sz="1200" dirty="0" err="1"/>
              <a:t>dari</a:t>
            </a:r>
            <a:r>
              <a:rPr lang="en-ID" sz="1200" dirty="0"/>
              <a:t> </a:t>
            </a:r>
            <a:r>
              <a:rPr lang="en-ID" sz="1200" dirty="0" err="1"/>
              <a:t>cabang</a:t>
            </a:r>
            <a:r>
              <a:rPr lang="en-ID" sz="1200" dirty="0"/>
              <a:t> Bandung </a:t>
            </a:r>
            <a:r>
              <a:rPr lang="en-ID" sz="1200" dirty="0" err="1"/>
              <a:t>karena</a:t>
            </a:r>
            <a:r>
              <a:rPr lang="en-ID" sz="1200" dirty="0"/>
              <a:t> </a:t>
            </a:r>
            <a:r>
              <a:rPr lang="en-ID" sz="1200" dirty="0" err="1"/>
              <a:t>ada</a:t>
            </a:r>
            <a:r>
              <a:rPr lang="en-ID" sz="1200" dirty="0"/>
              <a:t> acara </a:t>
            </a:r>
            <a:r>
              <a:rPr lang="en-ID" sz="1200" dirty="0" err="1"/>
              <a:t>besar</a:t>
            </a:r>
            <a:r>
              <a:rPr lang="en-ID" sz="1200" dirty="0"/>
              <a:t>. Nah - </a:t>
            </a:r>
            <a:r>
              <a:rPr lang="en-ID" sz="1200" dirty="0" err="1"/>
              <a:t>Siapa</a:t>
            </a:r>
            <a:r>
              <a:rPr lang="en-ID" sz="1200" dirty="0"/>
              <a:t> </a:t>
            </a:r>
            <a:r>
              <a:rPr lang="en-ID" sz="1200" dirty="0" err="1"/>
              <a:t>saja</a:t>
            </a:r>
            <a:r>
              <a:rPr lang="en-ID" sz="1200" dirty="0"/>
              <a:t> </a:t>
            </a:r>
            <a:r>
              <a:rPr lang="en-ID" sz="1200" dirty="0" err="1"/>
              <a:t>pegawai</a:t>
            </a:r>
            <a:r>
              <a:rPr lang="en-ID" sz="1200" dirty="0"/>
              <a:t> yang paling </a:t>
            </a:r>
            <a:r>
              <a:rPr lang="en-ID" sz="1200" dirty="0" err="1"/>
              <a:t>sering</a:t>
            </a:r>
            <a:r>
              <a:rPr lang="en-ID" sz="1200" dirty="0"/>
              <a:t> </a:t>
            </a:r>
            <a:r>
              <a:rPr lang="en-ID" sz="1200" dirty="0" err="1"/>
              <a:t>disuruh</a:t>
            </a:r>
            <a:r>
              <a:rPr lang="en-ID" sz="1200" dirty="0"/>
              <a:t> </a:t>
            </a:r>
            <a:r>
              <a:rPr lang="en-ID" sz="1200" dirty="0" err="1"/>
              <a:t>bantu-bantu</a:t>
            </a:r>
            <a:r>
              <a:rPr lang="en-ID" sz="1200" dirty="0"/>
              <a:t> (</a:t>
            </a:r>
            <a:r>
              <a:rPr lang="en-ID" sz="1200" dirty="0" err="1"/>
              <a:t>lembur</a:t>
            </a:r>
            <a:r>
              <a:rPr lang="en-ID" sz="1200" dirty="0"/>
              <a:t>)?, </a:t>
            </a:r>
            <a:r>
              <a:rPr lang="en-ID" sz="1200" dirty="0" err="1"/>
              <a:t>Berapa</a:t>
            </a:r>
            <a:r>
              <a:rPr lang="en-ID" sz="1200" dirty="0"/>
              <a:t> total </a:t>
            </a:r>
            <a:r>
              <a:rPr lang="en-ID" sz="1200" dirty="0" err="1"/>
              <a:t>hari</a:t>
            </a:r>
            <a:r>
              <a:rPr lang="en-ID" sz="1200" dirty="0"/>
              <a:t> </a:t>
            </a:r>
            <a:r>
              <a:rPr lang="en-ID" sz="1200" dirty="0" err="1"/>
              <a:t>mereka</a:t>
            </a:r>
            <a:r>
              <a:rPr lang="en-ID" sz="1200" dirty="0"/>
              <a:t> </a:t>
            </a:r>
            <a:r>
              <a:rPr lang="en-ID" sz="1200" dirty="0" err="1"/>
              <a:t>lembur</a:t>
            </a:r>
            <a:r>
              <a:rPr lang="en-ID" sz="1200" dirty="0"/>
              <a:t> di </a:t>
            </a:r>
            <a:r>
              <a:rPr lang="en-ID" sz="1100" dirty="0" err="1"/>
              <a:t>cabang</a:t>
            </a:r>
            <a:r>
              <a:rPr lang="en-ID" sz="1200" dirty="0"/>
              <a:t> lain?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92A82B-6521-DE7D-15C6-C85B0BF87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22FC249-B4E5-299B-B971-0ECC60420E69}"/>
              </a:ext>
            </a:extLst>
          </p:cNvPr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I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21C0648-0B99-6BEC-0ABF-3766473F206D}"/>
              </a:ext>
            </a:extLst>
          </p:cNvPr>
          <p:cNvSpPr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Aturan Bisnis &amp; Kamus Data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F374CE8-8972-D36A-2AFC-1A706E98DCCB}"/>
              </a:ext>
            </a:extLst>
          </p:cNvPr>
          <p:cNvSpPr/>
          <p:nvPr/>
        </p:nvSpPr>
        <p:spPr>
          <a:xfrm>
            <a:off x="548640" y="169164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59EF0EC-DCCE-A4B9-2D48-BAD44ECB1418}"/>
              </a:ext>
            </a:extLst>
          </p:cNvPr>
          <p:cNvSpPr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Uraian Solusi Logis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6BA7416-B2D5-CF1C-C913-5CEAECCDCAE1}"/>
              </a:ext>
            </a:extLst>
          </p:cNvPr>
          <p:cNvSpPr/>
          <p:nvPr/>
        </p:nvSpPr>
        <p:spPr>
          <a:xfrm>
            <a:off x="822960" y="2331720"/>
            <a:ext cx="484632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</a:pPr>
            <a:r>
              <a:rPr lang="en-ID" sz="1400" dirty="0" err="1"/>
              <a:t>Bayangkan</a:t>
            </a:r>
            <a:r>
              <a:rPr lang="en-ID" sz="1400" dirty="0"/>
              <a:t> </a:t>
            </a:r>
            <a:r>
              <a:rPr lang="en-ID" sz="1400" dirty="0" err="1"/>
              <a:t>SpaceHub</a:t>
            </a:r>
            <a:r>
              <a:rPr lang="en-ID" sz="1400" dirty="0"/>
              <a:t> punya </a:t>
            </a:r>
            <a:r>
              <a:rPr lang="en-ID" sz="1400" dirty="0" err="1"/>
              <a:t>banyak</a:t>
            </a:r>
            <a:r>
              <a:rPr lang="en-ID" sz="1400" dirty="0"/>
              <a:t> </a:t>
            </a:r>
            <a:r>
              <a:rPr lang="en-ID" sz="1400" dirty="0" err="1"/>
              <a:t>cabang</a:t>
            </a:r>
            <a:r>
              <a:rPr lang="en-ID" sz="1400" dirty="0"/>
              <a:t> di </a:t>
            </a:r>
            <a:r>
              <a:rPr lang="en-ID" sz="1400" dirty="0" err="1"/>
              <a:t>berbagai</a:t>
            </a:r>
            <a:r>
              <a:rPr lang="en-ID" sz="1400" dirty="0"/>
              <a:t> </a:t>
            </a:r>
            <a:r>
              <a:rPr lang="en-ID" sz="1400" dirty="0" err="1"/>
              <a:t>kota</a:t>
            </a:r>
            <a:r>
              <a:rPr lang="en-ID" sz="1400" dirty="0"/>
              <a:t>. </a:t>
            </a:r>
            <a:r>
              <a:rPr lang="en-ID" sz="1400" dirty="0" err="1"/>
              <a:t>Kadang</a:t>
            </a:r>
            <a:r>
              <a:rPr lang="en-ID" sz="1400" dirty="0"/>
              <a:t>, </a:t>
            </a:r>
            <a:r>
              <a:rPr lang="en-ID" sz="1400" dirty="0" err="1"/>
              <a:t>cabang</a:t>
            </a:r>
            <a:r>
              <a:rPr lang="en-ID" sz="1400" dirty="0"/>
              <a:t> Jakarta </a:t>
            </a:r>
            <a:r>
              <a:rPr lang="en-ID" sz="1400" dirty="0" err="1"/>
              <a:t>butuh</a:t>
            </a:r>
            <a:r>
              <a:rPr lang="en-ID" sz="1400" dirty="0"/>
              <a:t> </a:t>
            </a:r>
            <a:r>
              <a:rPr lang="en-ID" sz="1400" dirty="0" err="1"/>
              <a:t>bantuan</a:t>
            </a:r>
            <a:r>
              <a:rPr lang="en-ID" sz="1400" dirty="0"/>
              <a:t> orang </a:t>
            </a:r>
            <a:r>
              <a:rPr lang="en-ID" sz="1400" dirty="0" err="1"/>
              <a:t>dari</a:t>
            </a:r>
            <a:r>
              <a:rPr lang="en-ID" sz="1400" dirty="0"/>
              <a:t> </a:t>
            </a:r>
            <a:r>
              <a:rPr lang="en-ID" sz="1400" dirty="0" err="1"/>
              <a:t>cabang</a:t>
            </a:r>
            <a:r>
              <a:rPr lang="en-ID" sz="1400" dirty="0"/>
              <a:t> Bandung </a:t>
            </a:r>
            <a:r>
              <a:rPr lang="en-ID" sz="1400" dirty="0" err="1"/>
              <a:t>karena</a:t>
            </a:r>
            <a:r>
              <a:rPr lang="en-ID" sz="1400" dirty="0"/>
              <a:t> </a:t>
            </a:r>
            <a:r>
              <a:rPr lang="en-ID" sz="1400" dirty="0" err="1"/>
              <a:t>ada</a:t>
            </a:r>
            <a:r>
              <a:rPr lang="en-ID" sz="1400" dirty="0"/>
              <a:t> acara </a:t>
            </a:r>
            <a:r>
              <a:rPr lang="en-ID" sz="1400" dirty="0" err="1"/>
              <a:t>besar</a:t>
            </a:r>
            <a:r>
              <a:rPr lang="en-ID" sz="1400" dirty="0"/>
              <a:t>. Nah - </a:t>
            </a:r>
            <a:r>
              <a:rPr lang="en-ID" sz="1400" dirty="0" err="1"/>
              <a:t>Siapa</a:t>
            </a:r>
            <a:r>
              <a:rPr lang="en-ID" sz="1400" dirty="0"/>
              <a:t> </a:t>
            </a:r>
            <a:r>
              <a:rPr lang="en-ID" sz="1400" dirty="0" err="1"/>
              <a:t>saja</a:t>
            </a:r>
            <a:r>
              <a:rPr lang="en-ID" sz="1400" dirty="0"/>
              <a:t> </a:t>
            </a:r>
            <a:r>
              <a:rPr lang="en-ID" sz="1400" dirty="0" err="1"/>
              <a:t>pegawai</a:t>
            </a:r>
            <a:r>
              <a:rPr lang="en-ID" sz="1400" dirty="0"/>
              <a:t> yang paling </a:t>
            </a:r>
            <a:r>
              <a:rPr lang="en-ID" sz="1400" dirty="0" err="1"/>
              <a:t>sering</a:t>
            </a:r>
            <a:r>
              <a:rPr lang="en-ID" sz="1400" dirty="0"/>
              <a:t> </a:t>
            </a:r>
            <a:r>
              <a:rPr lang="en-ID" sz="1400" dirty="0" err="1"/>
              <a:t>disuruh</a:t>
            </a:r>
            <a:r>
              <a:rPr lang="en-ID" sz="1400" dirty="0"/>
              <a:t> </a:t>
            </a:r>
            <a:r>
              <a:rPr lang="en-ID" sz="1400" dirty="0" err="1"/>
              <a:t>bantu-bantu</a:t>
            </a:r>
            <a:r>
              <a:rPr lang="en-ID" sz="1400" dirty="0"/>
              <a:t> (</a:t>
            </a:r>
            <a:r>
              <a:rPr lang="en-ID" sz="1400" dirty="0" err="1"/>
              <a:t>lembur</a:t>
            </a:r>
            <a:r>
              <a:rPr lang="en-ID" sz="1400" dirty="0"/>
              <a:t>)?, </a:t>
            </a:r>
            <a:r>
              <a:rPr lang="en-ID" sz="1400" dirty="0" err="1"/>
              <a:t>Berapa</a:t>
            </a:r>
            <a:r>
              <a:rPr lang="en-ID" sz="1400" dirty="0"/>
              <a:t> total </a:t>
            </a:r>
            <a:r>
              <a:rPr lang="en-ID" sz="1400" dirty="0" err="1"/>
              <a:t>hari</a:t>
            </a:r>
            <a:r>
              <a:rPr lang="en-ID" sz="1400" dirty="0"/>
              <a:t> </a:t>
            </a:r>
            <a:r>
              <a:rPr lang="en-ID" sz="1400" dirty="0" err="1"/>
              <a:t>mereka</a:t>
            </a:r>
            <a:r>
              <a:rPr lang="en-ID" sz="1400" dirty="0"/>
              <a:t> </a:t>
            </a:r>
            <a:r>
              <a:rPr lang="en-ID" sz="1400" dirty="0" err="1"/>
              <a:t>lembur</a:t>
            </a:r>
            <a:r>
              <a:rPr lang="en-ID" sz="1400" dirty="0"/>
              <a:t> di </a:t>
            </a:r>
            <a:r>
              <a:rPr lang="en-ID" sz="1200" dirty="0" err="1"/>
              <a:t>cabang</a:t>
            </a:r>
            <a:r>
              <a:rPr lang="en-ID" sz="1400" dirty="0"/>
              <a:t> lain?</a:t>
            </a:r>
            <a:br>
              <a:rPr lang="en-ID" sz="1400" dirty="0"/>
            </a:br>
            <a:r>
              <a:rPr lang="en-ID" sz="1400" dirty="0"/>
              <a:t>  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7FF0170-6F7D-5B53-B966-DCB5A297DFF1}"/>
              </a:ext>
            </a:extLst>
          </p:cNvPr>
          <p:cNvSpPr/>
          <p:nvPr/>
        </p:nvSpPr>
        <p:spPr>
          <a:xfrm>
            <a:off x="6263640" y="1691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Kamus Data (Data Dictionary)</a:t>
            </a:r>
            <a:endParaRPr lang="en-US" sz="1600" dirty="0"/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9B3B8D49-A942-754C-C96B-075011A37944}"/>
              </a:ext>
            </a:extLst>
          </p:cNvPr>
          <p:cNvGraphicFramePr>
            <a:graphicFrameLocks noGrp="1"/>
          </p:cNvGraphicFramePr>
          <p:nvPr/>
        </p:nvGraphicFramePr>
        <p:xfrm>
          <a:off x="6263640" y="2148840"/>
          <a:ext cx="5394960" cy="2039113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1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Kolom Kunci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Keterangan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6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id_cabang (PK)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nama_cabang UNIQUE, kota_lokasi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0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Acara_Besar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id_acara (PK)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Cabang.id_cabang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6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id_staf (PK)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posisi_staf CHECK; FK cabang_rumah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6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Penugasan_Bantuan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id_penugasan (PK)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staf &amp; acara; CHECK tanggal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>
            <a:extLst>
              <a:ext uri="{FF2B5EF4-FFF2-40B4-BE49-F238E27FC236}">
                <a16:creationId xmlns:a16="http://schemas.microsoft.com/office/drawing/2014/main" id="{5F3790BA-917B-7B8E-8C68-31C4327AB617}"/>
              </a:ext>
            </a:extLst>
          </p:cNvPr>
          <p:cNvSpPr/>
          <p:nvPr/>
        </p:nvSpPr>
        <p:spPr>
          <a:xfrm>
            <a:off x="6263640" y="47548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3DA"/>
          </a:solidFill>
          <a:ln/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7BE7A46-766D-7CA7-ADF8-34D37218354C}"/>
              </a:ext>
            </a:extLst>
          </p:cNvPr>
          <p:cNvSpPr/>
          <p:nvPr/>
        </p:nvSpPr>
        <p:spPr>
          <a:xfrm>
            <a:off x="6492240" y="489204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4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Batasan validasi kritis: posisi_staf hanya boleh 'Customer Service' atau 'Cleaning Service'; tanggal_selesai wajib ≥ tanggal_mulai pada tabel Penugasan_Bantuan.</a:t>
            </a:r>
            <a:endParaRPr lang="en-US" sz="1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3344A4D-AD57-DAA0-6091-ACE41D39FAE4}"/>
              </a:ext>
            </a:extLst>
          </p:cNvPr>
          <p:cNvSpPr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73845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II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Perancangan Diagram Hubungan Entitas (ERD)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dirancang menggunakan notasi Crow's Foot — standar industri untuk memodelkan hubungan antar entitas. Kardinalitas utama: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8775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51460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Cabang → Staf : One-to-Many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09067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01752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Acara_Besar → Cabang : Many-to-One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59359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2044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 ↔ Acara_Besar : Many-to-Many (melalui Penugasan_Bantuan)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20624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Skema ini menjamin integritas referensial: setiap foreign key di tabel anak selalu merujuk primary key valid di tabel induk — menjadi pondasi kueri analisis kompleks pada bab selanjutnya.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1554480"/>
            <a:ext cx="5669280" cy="4754880"/>
          </a:xfrm>
          <a:prstGeom prst="roundRect">
            <a:avLst>
              <a:gd name="adj" fmla="val 1154"/>
            </a:avLst>
          </a:prstGeom>
          <a:solidFill>
            <a:srgbClr val="1E1E1E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66420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DBML (dbdiagram.io)</a:t>
            </a:r>
            <a:endParaRPr lang="en-US" sz="1200" dirty="0"/>
          </a:p>
        </p:txBody>
      </p:sp>
      <p:pic>
        <p:nvPicPr>
          <p:cNvPr id="14" name="Image 0" descr="/home/claude/imgs/img-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412" y="2011680"/>
            <a:ext cx="3997095" cy="41605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II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Diagram ERD — Crow's Foot Notation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imgs/img-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11568"/>
            <a:ext cx="10543032" cy="35321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989320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entitas: Cabang, Acara_Besar, Staf, dan Penugasan_Bantuan — divisualisasikan dengan dbdiagram.io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III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Skema Relasional &amp; Normalisasi (Sampai 3NF)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2402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4028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UNF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1089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Unnormalized Form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mentah berulang — riwayat penugasan dicatat berkali-kali di kolom yang sama.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64408" y="3410712"/>
            <a:ext cx="192024" cy="219456"/>
          </a:xfrm>
          <a:prstGeom prst="rightArrow">
            <a:avLst/>
          </a:prstGeom>
          <a:solidFill>
            <a:srgbClr val="B9C9D6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0" y="196596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57700" y="2240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224028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1NF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1880" y="31089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Normal Form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352044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data berulang dipisah; tiap sel berisi satu nilai atomik. Redundansi masih tinggi.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90488" y="3410712"/>
            <a:ext cx="192024" cy="219456"/>
          </a:xfrm>
          <a:prstGeom prst="rightArrow">
            <a:avLst/>
          </a:prstGeom>
          <a:solidFill>
            <a:srgbClr val="B9C9D6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196596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83780" y="2240280"/>
            <a:ext cx="731520" cy="731520"/>
          </a:xfrm>
          <a:prstGeom prst="ellipse">
            <a:avLst/>
          </a:prstGeom>
          <a:solidFill>
            <a:srgbClr val="2C7DA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24028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2NF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37960" y="31089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Normal Form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352044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dependency dihilangkan — entitas Cabang, Acara_Besar, dan Staf dipisah mandiri.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16568" y="3410712"/>
            <a:ext cx="192024" cy="219456"/>
          </a:xfrm>
          <a:prstGeom prst="rightArrow">
            <a:avLst/>
          </a:prstGeom>
          <a:solidFill>
            <a:srgbClr val="B9C9D6"/>
          </a:solidFill>
          <a:ln/>
        </p:spPr>
      </p:sp>
      <p:sp>
        <p:nvSpPr>
          <p:cNvPr id="22" name="Shape 20"/>
          <p:cNvSpPr/>
          <p:nvPr/>
        </p:nvSpPr>
        <p:spPr>
          <a:xfrm>
            <a:off x="9326880" y="196596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309860" y="224028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0" y="224028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3NF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464040" y="31089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Normal Form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509760" y="352044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Transitive dependency dihilangkan; riwayat penugasan ditempatkan di tabel Penugasan_Bantuan, "Cabang Rumah" staf tidak pernah tertimpa.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53492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EAF4F8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440680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akhir: skema bersih dan bebas dari tiga anomali utama — insertion, deletion, dan update anomaly. Skema final terdiri dari 4 tabel: Cabang, Acara_Besar, Staf, dan Penugasan_Bantuan.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IV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 SQL DDL &amp; Constraints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basis data: MySQL. Script DDL membuat 4 tabel lengkap dengan constraint integritas data: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4206240" cy="594360"/>
          </a:xfrm>
          <a:prstGeom prst="roundRect">
            <a:avLst>
              <a:gd name="adj" fmla="val 9231"/>
            </a:avLst>
          </a:prstGeom>
          <a:solidFill>
            <a:srgbClr val="EAF4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  </a:t>
            </a:r>
            <a:r>
              <a:rPr lang="en-US" sz="11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setiap tabel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081528"/>
            <a:ext cx="4206240" cy="594360"/>
          </a:xfrm>
          <a:prstGeom prst="roundRect">
            <a:avLst>
              <a:gd name="adj" fmla="val 9231"/>
            </a:avLst>
          </a:prstGeom>
          <a:solidFill>
            <a:srgbClr val="EAF4F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08152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 KEY  </a:t>
            </a:r>
            <a:r>
              <a:rPr lang="en-US" sz="11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menjaga integritas referensial antar tabel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785616"/>
            <a:ext cx="4206240" cy="594360"/>
          </a:xfrm>
          <a:prstGeom prst="roundRect">
            <a:avLst>
              <a:gd name="adj" fmla="val 9231"/>
            </a:avLst>
          </a:prstGeom>
          <a:solidFill>
            <a:srgbClr val="EAF4F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785616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  </a:t>
            </a:r>
            <a:r>
              <a:rPr lang="en-US" sz="11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kolom nama_cabang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489704"/>
            <a:ext cx="4206240" cy="594360"/>
          </a:xfrm>
          <a:prstGeom prst="roundRect">
            <a:avLst>
              <a:gd name="adj" fmla="val 9231"/>
            </a:avLst>
          </a:prstGeom>
          <a:solidFill>
            <a:srgbClr val="EA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48970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  </a:t>
            </a:r>
            <a:r>
              <a:rPr lang="en-US" sz="11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kolom-kolom wajib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193792"/>
            <a:ext cx="4206240" cy="594360"/>
          </a:xfrm>
          <a:prstGeom prst="roundRect">
            <a:avLst>
              <a:gd name="adj" fmla="val 9231"/>
            </a:avLst>
          </a:prstGeom>
          <a:solidFill>
            <a:srgbClr val="EA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519379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 </a:t>
            </a:r>
            <a:r>
              <a:rPr lang="en-US" sz="11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posisi_staf &amp; tanggal_selesai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1554480"/>
            <a:ext cx="6629400" cy="4846320"/>
          </a:xfrm>
          <a:prstGeom prst="roundRect">
            <a:avLst>
              <a:gd name="adj" fmla="val 1132"/>
            </a:avLst>
          </a:prstGeom>
          <a:solidFill>
            <a:srgbClr val="1E1E1E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6" name="Image 0" descr="/home/claude/imgs/img-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9251" y="1691640"/>
            <a:ext cx="5369297" cy="45720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IV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IV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Eksekusi DDL &amp; Keamanan Data (DCL)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Eksekusi DDL (phpMyAdmin)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8640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/home/claude/imgs/img-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45008"/>
            <a:ext cx="5212080" cy="28767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0" y="16276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 DCL — Role-Based Access Control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1965960"/>
            <a:ext cx="5440680" cy="4434840"/>
          </a:xfrm>
          <a:prstGeom prst="roundRect">
            <a:avLst>
              <a:gd name="adj" fmla="val 1237"/>
            </a:avLst>
          </a:prstGeom>
          <a:solidFill>
            <a:srgbClr val="1E1E1E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9" name="Image 1" descr="/home/claude/imgs/img-0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577154"/>
            <a:ext cx="5166360" cy="321245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IV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IV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 Control (RBAC)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EAF4F8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20240"/>
            <a:ext cx="352044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 Lapangan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untuk melihat tugas pada seluruh tabel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EAF4F8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920240"/>
            <a:ext cx="352044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92024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Manajer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28803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Penuh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329184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INSERT, UPDATE, DELETE untuk pengelolaan penjadwalan harian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9202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EAF4F8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1920240"/>
            <a:ext cx="3520440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92024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21040" y="28803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21040" y="329184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pada seluruh tabel untuk validasi data historis tanpa hak ubah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54406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memisahkan hak akses berdasarkan tanggung jawab pengguna, melindungi data operasional cabang dari manipulasi pihak yang tidak berwenang.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IV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Kueri Analisis &amp; Penyajian Informasi Strategis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kueri dijalankan, tabel diisi 15–20 baris data tiruan (dummy data) — mencakup Cabang, Acara_Besar, Staf, dan Penugasan_Bantuan.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Contoh: INSERT Data Cabang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5394960" cy="3749040"/>
          </a:xfrm>
          <a:prstGeom prst="roundRect">
            <a:avLst>
              <a:gd name="adj" fmla="val 1463"/>
            </a:avLst>
          </a:prstGeom>
          <a:solidFill>
            <a:srgbClr val="1E1E1E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7" name="Image 0" descr="/home/claude/imgs/img-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32123"/>
            <a:ext cx="5120640" cy="29883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0" y="22860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Contoh: INSERT Data Staf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2651760"/>
            <a:ext cx="5394960" cy="3749040"/>
          </a:xfrm>
          <a:prstGeom prst="roundRect">
            <a:avLst>
              <a:gd name="adj" fmla="val 1463"/>
            </a:avLst>
          </a:prstGeom>
          <a:solidFill>
            <a:srgbClr val="1E1E1E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" name="Image 1" descr="/home/claude/imgs/img-0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947" y="2788920"/>
            <a:ext cx="4616905" cy="34747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V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V — KUERI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Hari Lembur Staf Akibat Acara Lintas Cabang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JOIN: </a:t>
            </a: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Staf, Cabang, Penugasan_Bantuan, Acara_Besar (4 tabel)
</a:t>
            </a: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Agregasi: </a:t>
            </a: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COUNT() frekuensi acara &amp; SUM(DATEDIFF()) total hari lembur, dikelompokkan per staf
</a:t>
            </a: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</a:t>
            </a: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memastikan hanya staf dengan lembur &gt; 0 hari ditampilkan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1091672" cy="1600200"/>
          </a:xfrm>
          <a:prstGeom prst="roundRect">
            <a:avLst>
              <a:gd name="adj" fmla="val 3429"/>
            </a:avLst>
          </a:prstGeom>
          <a:solidFill>
            <a:srgbClr val="1E1E1E"/>
          </a:solidFill>
          <a:ln/>
        </p:spPr>
      </p:sp>
      <p:pic>
        <p:nvPicPr>
          <p:cNvPr id="6" name="Image 0" descr="/home/claude/imgs/img-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277" y="2926080"/>
            <a:ext cx="3728398" cy="1417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5720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Kueri ini krusial bagi divisi HR/SDM dalam kalkulasi pencairan upah lembur staf.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V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V — KUERI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Hasil: Peringkat Lembur Staf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imgs/img-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798" y="1828800"/>
            <a:ext cx="7755355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V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V — KUERI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Cabang yang Paling Banyak Meminjam Staf Eksternal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JOIN: </a:t>
            </a: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Acara_Besar, Cabang, Penugasan_Bantuan, Staf (4 tabel)
</a:t>
            </a: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Kondisi khusus: </a:t>
            </a: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id_cabang_rumah != id_cabang lokasi acara — memastikan hanya staf eksternal yang dihitung
</a:t>
            </a: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Agregasi: </a:t>
            </a: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COUNT() &amp; COUNT(DISTINCT id_staf) untuk jumlah staf unik yang dipinjam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1091672" cy="1645920"/>
          </a:xfrm>
          <a:prstGeom prst="roundRect">
            <a:avLst>
              <a:gd name="adj" fmla="val 3333"/>
            </a:avLst>
          </a:prstGeom>
          <a:solidFill>
            <a:srgbClr val="1E1E1E"/>
          </a:solidFill>
          <a:ln/>
        </p:spPr>
      </p:sp>
      <p:pic>
        <p:nvPicPr>
          <p:cNvPr id="6" name="Image 0" descr="/home/claude/imgs/img-0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676" y="2926080"/>
            <a:ext cx="365760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6177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membantu manajemen memutuskan cabang mana yang mendesak untuk rekrutmen pegawai tetap tambahan.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V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V — KUERI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Hasil: Ketergantungan Cabang terhadap Staf Eksternal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imgs/img-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485" y="1920240"/>
            <a:ext cx="9429982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V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V — KUERI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Matriks Rute Pergerakan Staf Cleaning Service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(&gt;4 tabel): </a:t>
            </a: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Penugasan_Bantuan, Staf, dan Cabang dipanggil dua kali — self-join sebagai c_asal &amp; c_tujuan, plus Acara_Besar
</a:t>
            </a: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Agregasi: </a:t>
            </a: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COUNT() frekuensi rute &amp; SUM(DATEDIFF()) total hari dihabiskan
</a:t>
            </a: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Pengelompokan: </a:t>
            </a: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berdasarkan rute keberangkatan dan tujuan, untuk posisi Cleaning Service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1091672" cy="1874520"/>
          </a:xfrm>
          <a:prstGeom prst="roundRect">
            <a:avLst>
              <a:gd name="adj" fmla="val 2927"/>
            </a:avLst>
          </a:prstGeom>
          <a:solidFill>
            <a:srgbClr val="1E1E1E"/>
          </a:solidFill>
          <a:ln/>
        </p:spPr>
      </p:sp>
      <p:pic>
        <p:nvPicPr>
          <p:cNvPr id="6" name="Image 0" descr="/home/claude/imgs/img-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961" y="3017520"/>
            <a:ext cx="3903030" cy="1691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9377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Memungkinkan Manajer Operasional memproyeksikan biaya transportasi &amp; akomodasi berdasarkan rute tersibuk.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V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A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V — KUERI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Hasil: Peta Mobilitas Tenaga Kerja Antar Cabang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imgs/img-02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802" y="1828800"/>
            <a:ext cx="8177349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V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VI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2A347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4767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Penyelesaian Aturan Bisnis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Entitas asosiatif Penugasan_Bantuan mencatat riwayat perpindahan staf antar cabang secara fleksibel tanpa menghapus data "Cabang Rumah" asli.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2A3470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965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194767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Kualitas Skema Relasional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256032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dan normalisasi hingga 3NF menjamin integritas data dan meminimalisir anomali insert, update, serta delete.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2A347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5720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55371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Keamanan Data (DCL)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516636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membagi hak akses ke 3 peran: Staf Lapangan (Read-Only), Manajer (CRUD penuh), dan Auditor (Read-Only).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429768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2A3470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5720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455371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Informasi Strategis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516636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Kueri kompleks (JOIN 4–5 tabel, agregasi, GROUP BY/HAVING) menyajikan informasi manajerial akurat untuk pengambilan keputusan eksekutif.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VI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Daftar Pustaka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01952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5564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Connolly, T. M., &amp; Begg, C. E. (2014). Database Systems: A Practical Approach to Design, Implementation, and Management (6th ed.). Pearson Education.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679192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3288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Holczer, dbdiagram.io (2026). Database Relationship Diagrams Design Tool. dbdiagram.io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456432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31012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Mockaroo, LLC. (2026). Random Data Generator and API Mocking Tool. mockaroo.com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233672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8736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Corporation. (2026). MySQL 8.0 Reference Manual. dev.mysql.com/doc/refman/8.0/en/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010912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86460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Inc. (2026). GitHub Documentation: Managing Repositories. docs.github.com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Pustaka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1506</Words>
  <Application>Microsoft Office PowerPoint</Application>
  <PresentationFormat>Widescreen</PresentationFormat>
  <Paragraphs>200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SpaceHub Co - SDM &amp; Operasional Multi-Cabang</dc:title>
  <dc:subject>PptxGenJS Presentation</dc:subject>
  <dc:creator>Kelompok 4</dc:creator>
  <cp:lastModifiedBy>fadlan ntsr</cp:lastModifiedBy>
  <cp:revision>4</cp:revision>
  <dcterms:created xsi:type="dcterms:W3CDTF">2026-06-30T14:36:03Z</dcterms:created>
  <dcterms:modified xsi:type="dcterms:W3CDTF">2026-07-08T05:48:06Z</dcterms:modified>
</cp:coreProperties>
</file>